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embeddedFontLst>
    <p:embeddedFont>
      <p:font typeface="Merriweather" panose="00000500000000000000" pitchFamily="2" charset="0"/>
      <p:regular r:id="rId12"/>
    </p:embeddedFont>
    <p:embeddedFont>
      <p:font typeface="Merriweather Bold" panose="00000800000000000000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16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685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1533723"/>
            <a:ext cx="6180181" cy="1934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AI-Powered English </a:t>
            </a:r>
            <a:r>
              <a:rPr lang="en-US" sz="4000" dirty="0">
                <a:solidFill>
                  <a:schemeClr val="bg1"/>
                </a:solidFill>
                <a:latin typeface="Noto Color Emoji" pitchFamily="34" charset="0"/>
                <a:ea typeface="Noto Color Emoji" pitchFamily="34" charset="-122"/>
                <a:cs typeface="Merriweather" pitchFamily="34" charset="-120"/>
              </a:rPr>
              <a:t>&lt;-&gt; </a:t>
            </a: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Urdu Translation System (Bilangual)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9814" y="3776762"/>
            <a:ext cx="6180181" cy="1547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Presented by Muhammad Talha (2023-CS-12)</a:t>
            </a:r>
            <a:endParaRPr lang="en-US" sz="1600" dirty="0"/>
          </a:p>
          <a:p>
            <a:pPr marL="0" indent="0" algn="l">
              <a:lnSpc>
                <a:spcPct val="133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Supervised by Sir Samyan Wahla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Department of Computer Science, UET Lahore 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Course: Programming for 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628253"/>
            <a:ext cx="6180181" cy="61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Executive Summary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719814" y="1521123"/>
            <a:ext cx="6180181" cy="15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    "Bilangual" is a translation platform engineered for the linguistic complexity of English and Urdu. It combines multi-script detection, conversation-state tracking, and a deterministic Risk Engine to ensure safe, auditable translations for high-stakes domains.   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19814" y="3262709"/>
            <a:ext cx="2996629" cy="2966938"/>
          </a:xfrm>
          <a:prstGeom prst="roundRect">
            <a:avLst>
              <a:gd name="adj" fmla="val 277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22116" y="3465016"/>
            <a:ext cx="2592025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Differentiator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22116" y="3883323"/>
            <a:ext cx="2592025" cy="2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Conversation state tracking + hybrid script </a:t>
            </a:r>
            <a:r>
              <a:rPr lang="en-US" sz="15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identification (Roman</a:t>
            </a: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Mixed) + deterministic risk evaluation (no silent failures).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903267" y="3262709"/>
            <a:ext cx="2996728" cy="2966938"/>
          </a:xfrm>
          <a:prstGeom prst="roundRect">
            <a:avLst>
              <a:gd name="adj" fmla="val 277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05569" y="3465016"/>
            <a:ext cx="2592124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Core Triad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105569" y="3883323"/>
            <a:ext cx="2592124" cy="15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Cost Efficiency (caching), Translation Quality (entity &amp; numeric preservation), Latency (sub-5ms cache retrieval).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1529457"/>
            <a:ext cx="6180181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Problem Statement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291700" y="2480667"/>
            <a:ext cx="6180181" cy="2847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Stateless NMT: existing APIs translate isolated sentences and lose cross-sentence references.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Context Loss: pronouns and discourse markers (e.g., "us ne", "wahan") remain unresolved across turns.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Script Ambiguity: Roman Urdu and code-switching are misclassified as broken English.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Financial Hallucination: dropped or inverted identifiers, numbers, and transaction states create safety risks.</a:t>
            </a:r>
            <a:endParaRPr lang="en-US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15B7BC-2549-1165-4F18-31551844032F}"/>
              </a:ext>
            </a:extLst>
          </p:cNvPr>
          <p:cNvSpPr/>
          <p:nvPr/>
        </p:nvSpPr>
        <p:spPr>
          <a:xfrm>
            <a:off x="11024558" y="6512943"/>
            <a:ext cx="1095555" cy="284672"/>
          </a:xfrm>
          <a:prstGeom prst="rect">
            <a:avLst/>
          </a:prstGeom>
          <a:solidFill>
            <a:srgbClr val="0916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593030"/>
            <a:ext cx="6180181" cy="4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Objectives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719814" y="1265932"/>
            <a:ext cx="6180181" cy="444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Deliver a production-quality, multi-script translation pipeline with deterministic verification and human escalation for ambiguous or high-risk outputs.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1846262"/>
            <a:ext cx="1979662" cy="27286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15092" y="1964333"/>
            <a:ext cx="188908" cy="2361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896320" y="2476103"/>
            <a:ext cx="1626651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Script Identification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896320" y="3040559"/>
            <a:ext cx="1626651" cy="1334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Detect Urdu (Nastaliq), Roman Urdu, English, and mixed code-switching with high precision.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20024" y="1846262"/>
            <a:ext cx="1979662" cy="27286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15302" y="1964333"/>
            <a:ext cx="188908" cy="2361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2996530" y="2476103"/>
            <a:ext cx="1626651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Context Management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2996530" y="3040559"/>
            <a:ext cx="1626651" cy="1111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Sliding-window session history to resolve anaphora, co-reference, and ellipses across turns.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20234" y="1846262"/>
            <a:ext cx="1979761" cy="272861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15611" y="1964333"/>
            <a:ext cx="188908" cy="2361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5096740" y="2476103"/>
            <a:ext cx="1626750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Few-Shot Exemplar System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5096740" y="3286621"/>
            <a:ext cx="1626750" cy="1111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Seven frozen golden scenarios provide deterministic domain rules and edge-case anchors.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814" y="4695428"/>
            <a:ext cx="6180181" cy="156944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715401" y="4813498"/>
            <a:ext cx="188908" cy="2361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896320" y="5325269"/>
            <a:ext cx="5827170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Foundation Model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896320" y="5643662"/>
            <a:ext cx="5827170" cy="444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Primary LLM client: Google Gemini (gemini-3.5-flash) with structured JSON outputs and fallback policies.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10989"/>
            <a:ext cx="10752067" cy="632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Target Audience &amp; Use Cases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1642269"/>
            <a:ext cx="725271" cy="9065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4217" y="1642269"/>
            <a:ext cx="1526740" cy="948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Fintech &amp; Support Agents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694217" y="2710755"/>
            <a:ext cx="1526740" cy="3536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Convert informal Roman Urdu complaints into formal, compliance-ready English tickets while preserving transaction semantics.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0089" y="1642269"/>
            <a:ext cx="725271" cy="9065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44492" y="1642269"/>
            <a:ext cx="1526740" cy="632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Bilingual Students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4444492" y="2394446"/>
            <a:ext cx="152674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Seamless handling of code-switching and mixed-script notes for study aids and automated summaries.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364" y="1642269"/>
            <a:ext cx="725271" cy="9065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94767" y="1642269"/>
            <a:ext cx="1526740" cy="632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Compliance Auditors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7194767" y="2394446"/>
            <a:ext cx="1526740" cy="3214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Risk Engine provides auditable decision traces and deterministic checks for high-risk financial translations.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0639" y="1642269"/>
            <a:ext cx="725271" cy="9065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45042" y="1642269"/>
            <a:ext cx="1526839" cy="632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Everyday Users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9945042" y="2394446"/>
            <a:ext cx="1526839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Fast, accurate translations with Nastaliq rendering and low-latency cache hits for repeated queries.</a:t>
            </a:r>
            <a:endParaRPr lang="en-US" sz="15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B43443-5571-E037-C65E-98C9372B887E}"/>
              </a:ext>
            </a:extLst>
          </p:cNvPr>
          <p:cNvSpPr/>
          <p:nvPr/>
        </p:nvSpPr>
        <p:spPr>
          <a:xfrm>
            <a:off x="11024558" y="6512943"/>
            <a:ext cx="1095555" cy="284672"/>
          </a:xfrm>
          <a:prstGeom prst="rect">
            <a:avLst/>
          </a:prstGeom>
          <a:solidFill>
            <a:srgbClr val="0916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594717"/>
            <a:ext cx="6180181" cy="482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291700" y="1250255"/>
            <a:ext cx="6180181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End-to-end modular pipeline designed for reliability, observability, and low-latency operation.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1700" y="3412034"/>
            <a:ext cx="2901977" cy="125144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957" y="4426159"/>
            <a:ext cx="658369" cy="8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Prompt Builder</a:t>
            </a:r>
            <a:endParaRPr lang="en-US" sz="500" dirty="0"/>
          </a:p>
        </p:txBody>
      </p:sp>
      <p:sp>
        <p:nvSpPr>
          <p:cNvPr id="7" name="Text 3"/>
          <p:cNvSpPr/>
          <p:nvPr/>
        </p:nvSpPr>
        <p:spPr>
          <a:xfrm>
            <a:off x="5486957" y="4136469"/>
            <a:ext cx="658369" cy="8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Context Manager</a:t>
            </a:r>
            <a:endParaRPr lang="en-US" sz="500" dirty="0"/>
          </a:p>
        </p:txBody>
      </p:sp>
      <p:sp>
        <p:nvSpPr>
          <p:cNvPr id="8" name="Text 4"/>
          <p:cNvSpPr/>
          <p:nvPr/>
        </p:nvSpPr>
        <p:spPr>
          <a:xfrm>
            <a:off x="5486957" y="3849706"/>
            <a:ext cx="658369" cy="8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Language Detector</a:t>
            </a:r>
            <a:endParaRPr lang="en-US" sz="500" dirty="0"/>
          </a:p>
        </p:txBody>
      </p:sp>
      <p:sp>
        <p:nvSpPr>
          <p:cNvPr id="9" name="Text 5"/>
          <p:cNvSpPr/>
          <p:nvPr/>
        </p:nvSpPr>
        <p:spPr>
          <a:xfrm>
            <a:off x="5486957" y="3560016"/>
            <a:ext cx="658369" cy="8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Preprocessor</a:t>
            </a:r>
            <a:endParaRPr lang="en-US" sz="500" dirty="0"/>
          </a:p>
        </p:txBody>
      </p:sp>
      <p:sp>
        <p:nvSpPr>
          <p:cNvPr id="10" name="Text 6"/>
          <p:cNvSpPr/>
          <p:nvPr/>
        </p:nvSpPr>
        <p:spPr>
          <a:xfrm>
            <a:off x="8576254" y="1916410"/>
            <a:ext cx="2901977" cy="4306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1700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Preprocessor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: normalize Unicode, preserve numerics, tokenize multi-script input.</a:t>
            </a:r>
            <a:endParaRPr lang="en-US" sz="1200" dirty="0"/>
          </a:p>
          <a:p>
            <a:pPr marL="243840" indent="-243840" algn="l">
              <a:lnSpc>
                <a:spcPct val="11700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Language Detector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: regex + Unicode script analysis + statistical heuristics for Roman Urdu detection.</a:t>
            </a:r>
            <a:endParaRPr lang="en-US" sz="1200" dirty="0"/>
          </a:p>
          <a:p>
            <a:pPr marL="243840" indent="-243840" algn="l">
              <a:lnSpc>
                <a:spcPct val="11700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Context Manager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: sliding-window session store, canonicalized entities, turn-level metadata.</a:t>
            </a:r>
            <a:endParaRPr lang="en-US" sz="1200" dirty="0"/>
          </a:p>
          <a:p>
            <a:pPr marL="243840" indent="-243840" algn="l">
              <a:lnSpc>
                <a:spcPct val="11700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Prompt Builder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: injects exemplars, domain rules, and structured output schema into model prompt.</a:t>
            </a:r>
            <a:endParaRPr lang="en-US" sz="1200" dirty="0"/>
          </a:p>
          <a:p>
            <a:pPr marL="243840" indent="-243840" algn="l">
              <a:lnSpc>
                <a:spcPct val="11700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LLM Client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: Gemini 3.5 Flash with JSON schema enforcement and timeout/fallback policies.</a:t>
            </a:r>
            <a:endParaRPr lang="en-US" sz="1200" dirty="0"/>
          </a:p>
          <a:p>
            <a:pPr marL="243840" indent="-243840" algn="l">
              <a:lnSpc>
                <a:spcPct val="117000"/>
              </a:lnSpc>
              <a:buSzPct val="100000"/>
              <a:buChar char="•"/>
            </a:pP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Risk Engine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: deterministic audits, numeric/state checks, human-in-loop queueing.</a:t>
            </a:r>
            <a:endParaRPr 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9C2460-7E1F-AF75-273D-6CC64D04B535}"/>
              </a:ext>
            </a:extLst>
          </p:cNvPr>
          <p:cNvSpPr/>
          <p:nvPr/>
        </p:nvSpPr>
        <p:spPr>
          <a:xfrm>
            <a:off x="11024558" y="6512943"/>
            <a:ext cx="1095555" cy="284672"/>
          </a:xfrm>
          <a:prstGeom prst="rect">
            <a:avLst/>
          </a:prstGeom>
          <a:solidFill>
            <a:srgbClr val="0916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303FEC1-1E82-BB9C-429B-7EDA24C428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8626"/>
            <a:ext cx="4571886" cy="68669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605433"/>
            <a:ext cx="6180181" cy="542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Deterministic Risk Engine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719814" y="1367334"/>
            <a:ext cx="6180181" cy="51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Audits candidate translations using rule-based validators before release. Deterministic checks ensure financial and state integrity.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719814" y="2043807"/>
            <a:ext cx="1962498" cy="2806502"/>
          </a:xfrm>
          <a:prstGeom prst="roundRect">
            <a:avLst>
              <a:gd name="adj" fmla="val 3714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2393" y="2236391"/>
            <a:ext cx="1577340" cy="542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Number Mismatch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2393" y="2866529"/>
            <a:ext cx="1577340" cy="1791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Validates numeric tokens and formats (e.g., "25k" → ensures "25,000" preserved or flagged).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828656" y="2043807"/>
            <a:ext cx="1962498" cy="2806502"/>
          </a:xfrm>
          <a:prstGeom prst="roundRect">
            <a:avLst>
              <a:gd name="adj" fmla="val 3714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021235" y="2236391"/>
            <a:ext cx="1577340" cy="271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State Inversion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021235" y="2595364"/>
            <a:ext cx="1577340" cy="1535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Checks semantic polarity for transactions (debit vs. credit) and flags inversions for review.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937498" y="2043807"/>
            <a:ext cx="1962498" cy="2806502"/>
          </a:xfrm>
          <a:prstGeom prst="roundRect">
            <a:avLst>
              <a:gd name="adj" fmla="val 3714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130076" y="2236391"/>
            <a:ext cx="1577340" cy="542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Multiplier Retention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130076" y="2866529"/>
            <a:ext cx="1577340" cy="1535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Preserves multipliers and frequency markers (e.g., "2 dafa" → "twice") with unit consistency.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19814" y="4996656"/>
            <a:ext cx="6180181" cy="1255911"/>
          </a:xfrm>
          <a:prstGeom prst="roundRect">
            <a:avLst>
              <a:gd name="adj" fmla="val 5804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12393" y="5189240"/>
            <a:ext cx="5795024" cy="271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Human-in-the-Loop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12393" y="5548213"/>
            <a:ext cx="5795024" cy="51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High-risk or ambiguous results route to a human review queue with contextual logs and candidate alternatives.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97607"/>
            <a:ext cx="10752067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Cold-Start Few-Shot Scenarios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9814" y="1751707"/>
            <a:ext cx="10752067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Seven frozen golden benchmarks anchor behavior during cold-starts and enforce compliance across fintech edge cases.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2641104"/>
            <a:ext cx="1501539" cy="15015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9814" y="4399756"/>
            <a:ext cx="341264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ATM Hardware Failure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19814" y="4844355"/>
            <a:ext cx="3412643" cy="1316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Preserve hardware state ("phans gaya" → "stuck") and avoid speculative remediation suggestions.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526" y="2641104"/>
            <a:ext cx="1501539" cy="15015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89526" y="4399756"/>
            <a:ext cx="341264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Failed Transfer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4389526" y="4844355"/>
            <a:ext cx="3412643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Exact PKR amounts and debit-only states must be retained verbatim for compliance triage.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9238" y="2641104"/>
            <a:ext cx="1501539" cy="15015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59238" y="4399756"/>
            <a:ext cx="341264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Double Deduction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8059238" y="4844355"/>
            <a:ext cx="3412643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Retain multiplier context (duplicate charges, '2 dafa') and map to precise English phrasing.</a:t>
            </a:r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49B226-4C9F-4CAA-6D4A-37A7BAC17C8A}"/>
              </a:ext>
            </a:extLst>
          </p:cNvPr>
          <p:cNvSpPr/>
          <p:nvPr/>
        </p:nvSpPr>
        <p:spPr>
          <a:xfrm>
            <a:off x="11024558" y="6512943"/>
            <a:ext cx="1095555" cy="284672"/>
          </a:xfrm>
          <a:prstGeom prst="rect">
            <a:avLst/>
          </a:prstGeom>
          <a:solidFill>
            <a:srgbClr val="0916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2153" y="1172019"/>
            <a:ext cx="6180181" cy="602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Success Criteria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392154" y="2136167"/>
            <a:ext cx="6180181" cy="3179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9000"/>
              </a:lnSpc>
              <a:buSzPct val="100000"/>
              <a:buChar char="•"/>
            </a:pPr>
            <a:r>
              <a:rPr lang="en-US" sz="15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Safety Guaranteed</a:t>
            </a: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: deterministic detection of dropped numbers and inverted transaction states (target: 100% detection for benchmarked cases).</a:t>
            </a:r>
            <a:endParaRPr lang="en-US" sz="1500" dirty="0"/>
          </a:p>
          <a:p>
            <a:pPr marL="304800" indent="-304800" algn="l">
              <a:lnSpc>
                <a:spcPct val="129000"/>
              </a:lnSpc>
              <a:buSzPct val="100000"/>
              <a:buChar char="•"/>
            </a:pPr>
            <a:r>
              <a:rPr lang="en-US" sz="15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Contextual Accuracy</a:t>
            </a: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: sustained multi-turn memory with correct anaphora and entity preservation across sessions.</a:t>
            </a:r>
            <a:endParaRPr lang="en-US" sz="1500" dirty="0"/>
          </a:p>
          <a:p>
            <a:pPr marL="304800" indent="-304800" algn="l">
              <a:lnSpc>
                <a:spcPct val="129000"/>
              </a:lnSpc>
              <a:buSzPct val="100000"/>
              <a:buChar char="•"/>
            </a:pPr>
            <a:r>
              <a:rPr lang="en-US" sz="15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Speed</a:t>
            </a: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: sub-5ms cache retrieval for repeated queries; end-to-end p95 latency targets documented.</a:t>
            </a:r>
            <a:endParaRPr lang="en-US" sz="1500" dirty="0"/>
          </a:p>
          <a:p>
            <a:pPr marL="304800" indent="-304800" algn="l">
              <a:lnSpc>
                <a:spcPct val="129000"/>
              </a:lnSpc>
              <a:buSzPct val="100000"/>
              <a:buChar char="•"/>
            </a:pPr>
            <a:r>
              <a:rPr lang="en-US" sz="15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Resilience</a:t>
            </a: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: graceful handling of rate limits, automated model fallbacks, and robust script-mismatch recovery without crashing.</a:t>
            </a:r>
            <a:endParaRPr lang="en-US" sz="15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A3AD46-D34D-34DD-2BE9-24E905C7B9CC}"/>
              </a:ext>
            </a:extLst>
          </p:cNvPr>
          <p:cNvSpPr/>
          <p:nvPr/>
        </p:nvSpPr>
        <p:spPr>
          <a:xfrm>
            <a:off x="11024558" y="6512943"/>
            <a:ext cx="1095555" cy="284672"/>
          </a:xfrm>
          <a:prstGeom prst="rect">
            <a:avLst/>
          </a:prstGeom>
          <a:solidFill>
            <a:srgbClr val="0916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729</Words>
  <Application>Microsoft Office PowerPoint</Application>
  <PresentationFormat>Widescreen</PresentationFormat>
  <Paragraphs>83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Merriweather</vt:lpstr>
      <vt:lpstr>Merriweather Bold</vt:lpstr>
      <vt:lpstr>Noto Color Emoji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Muhammad Talha</cp:lastModifiedBy>
  <cp:revision>8</cp:revision>
  <dcterms:created xsi:type="dcterms:W3CDTF">2026-09-27T20:16:49Z</dcterms:created>
  <dcterms:modified xsi:type="dcterms:W3CDTF">2026-09-28T04:41:55Z</dcterms:modified>
</cp:coreProperties>
</file>